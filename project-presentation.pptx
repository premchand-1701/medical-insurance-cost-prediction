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charts/chart1.xml" ContentType="application/vnd.openxmlformats-officedocument.drawingml.chart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notesMasterIdLst>
    <p:notesMasterId r:id="rId14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notesMaster" Target="notesMasters/notesMaster1.xml"/><Relationship Id="rId15" Type="http://schemas.openxmlformats.org/officeDocument/2006/relationships/presProps" Target="presProps.xml"/><Relationship Id="rId16" Type="http://schemas.openxmlformats.org/officeDocument/2006/relationships/viewProps" Target="viewProps.xml"/><Relationship Id="rId17" Type="http://schemas.openxmlformats.org/officeDocument/2006/relationships/theme" Target="theme/theme1.xml"/><Relationship Id="rId18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R² Score</c:v>
                </c:pt>
              </c:strCache>
            </c:strRef>
          </c:tx>
          <c:spPr>
            <a:solidFill>
              <a:srgbClr val="1E2761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900" u="none">
                    <a:solidFill>
                      <a:srgbClr val="1E2761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Sheet1!$A$2:$A$6</c:f>
              <c:multiLvlStrCache>
                <c:ptCount val="5"/>
                <c:lvl>
                  <c:pt idx="0">
                    <c:v>Linear Reg.</c:v>
                  </c:pt>
                  <c:pt idx="1">
                    <c:v>Decision Tree</c:v>
                  </c:pt>
                  <c:pt idx="2">
                    <c:v>Random Forest</c:v>
                  </c:pt>
                  <c:pt idx="3">
                    <c:v>Grad. Boosting</c:v>
                  </c:pt>
                  <c:pt idx="4">
                    <c:v>SVR</c:v>
                  </c:pt>
                </c:lvl>
              </c:multiLvlStrCache>
            </c:multiLvl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0.7833</c:v>
                </c:pt>
                <c:pt idx="1">
                  <c:v>0.6844</c:v>
                </c:pt>
                <c:pt idx="2">
                  <c:v>0.8643</c:v>
                </c:pt>
                <c:pt idx="3">
                  <c:v>0.878</c:v>
                </c:pt>
                <c:pt idx="4">
                  <c:v>0.5854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900" u="none">
                  <a:solidFill>
                    <a:srgbClr val="1E2761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64748B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1"/>
          <c:min val="0"/>
        </c:scaling>
        <c:delete val="0"/>
        <c:axPos val="l"/>
        <c:majorGridlines>
          <c:spPr>
            <a:ln w="6350" cap="flat">
              <a:solidFill>
                <a:srgbClr val="E2E8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800" b="0" i="0" u="none" strike="noStrike">
                <a:solidFill>
                  <a:srgbClr val="64748B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F162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4892040"/>
            <a:ext cx="9144000" cy="251460"/>
          </a:xfrm>
          <a:prstGeom prst="rect">
            <a:avLst/>
          </a:prstGeom>
          <a:solidFill>
            <a:srgbClr val="00A896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4" name="Shape 2"/>
          <p:cNvSpPr/>
          <p:nvPr/>
        </p:nvSpPr>
        <p:spPr>
          <a:xfrm>
            <a:off x="0" y="4663440"/>
            <a:ext cx="9144000" cy="480060"/>
          </a:xfrm>
          <a:prstGeom prst="rect">
            <a:avLst/>
          </a:prstGeom>
          <a:solidFill>
            <a:srgbClr val="00A896"/>
          </a:solidFill>
          <a:ln/>
        </p:spPr>
      </p:sp>
      <p:sp>
        <p:nvSpPr>
          <p:cNvPr id="5" name="Text 3"/>
          <p:cNvSpPr/>
          <p:nvPr/>
        </p:nvSpPr>
        <p:spPr>
          <a:xfrm>
            <a:off x="731520" y="914400"/>
            <a:ext cx="7680960" cy="2011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30000"/>
              </a:lnSpc>
              <a:buNone/>
            </a:pPr>
            <a:r>
              <a:rPr lang="en-US" sz="4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Medical Insurance Cost</a:t>
            </a:r>
            <a:endParaRPr lang="en-US" sz="4000" dirty="0"/>
          </a:p>
          <a:p>
            <a:pPr algn="ctr" indent="0" marL="0">
              <a:lnSpc>
                <a:spcPct val="130000"/>
              </a:lnSpc>
              <a:buNone/>
            </a:pPr>
            <a:r>
              <a:rPr lang="en-US" sz="4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Prediction Using ML</a:t>
            </a:r>
            <a:endParaRPr lang="en-US" sz="4000" dirty="0"/>
          </a:p>
        </p:txBody>
      </p:sp>
      <p:sp>
        <p:nvSpPr>
          <p:cNvPr id="6" name="Shape 4"/>
          <p:cNvSpPr/>
          <p:nvPr/>
        </p:nvSpPr>
        <p:spPr>
          <a:xfrm>
            <a:off x="3200400" y="3017520"/>
            <a:ext cx="2743200" cy="36576"/>
          </a:xfrm>
          <a:prstGeom prst="rect">
            <a:avLst/>
          </a:prstGeom>
          <a:solidFill>
            <a:srgbClr val="00A896"/>
          </a:solidFill>
          <a:ln/>
        </p:spPr>
      </p:sp>
      <p:sp>
        <p:nvSpPr>
          <p:cNvPr id="7" name="Text 5"/>
          <p:cNvSpPr/>
          <p:nvPr/>
        </p:nvSpPr>
        <p:spPr>
          <a:xfrm>
            <a:off x="914400" y="3291840"/>
            <a:ext cx="7315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Comparative Study of Regression Algorithms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914400" y="3931920"/>
            <a:ext cx="7315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Machine Learning Project</a:t>
            </a:r>
            <a:endParaRPr lang="en-US" sz="1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0F4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137160"/>
            <a:ext cx="80467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Abstract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0" y="4892040"/>
            <a:ext cx="9144000" cy="251460"/>
          </a:xfrm>
          <a:prstGeom prst="rect">
            <a:avLst/>
          </a:prstGeom>
          <a:solidFill>
            <a:srgbClr val="00A896"/>
          </a:solidFill>
          <a:ln/>
        </p:spPr>
      </p:sp>
      <p:sp>
        <p:nvSpPr>
          <p:cNvPr id="5" name="Shape 3"/>
          <p:cNvSpPr/>
          <p:nvPr/>
        </p:nvSpPr>
        <p:spPr>
          <a:xfrm>
            <a:off x="457200" y="1097280"/>
            <a:ext cx="8229600" cy="356616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2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457200" y="1097280"/>
            <a:ext cx="73152" cy="3566160"/>
          </a:xfrm>
          <a:prstGeom prst="rect">
            <a:avLst/>
          </a:prstGeom>
          <a:solidFill>
            <a:srgbClr val="00A896"/>
          </a:solidFill>
          <a:ln/>
        </p:spPr>
      </p:sp>
      <p:sp>
        <p:nvSpPr>
          <p:cNvPr id="7" name="Text 5"/>
          <p:cNvSpPr/>
          <p:nvPr/>
        </p:nvSpPr>
        <p:spPr>
          <a:xfrm>
            <a:off x="822960" y="1371600"/>
            <a:ext cx="7589520" cy="3108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project predicts medical insurance costs using machine learning regression techniques. </a:t>
            </a:r>
            <a:endParaRPr lang="en-US" sz="1400" dirty="0"/>
          </a:p>
          <a:p>
            <a:pPr indent="0" marL="0">
              <a:buNone/>
            </a:pP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dataset consists of 1,338 records with features including age, sex, BMI, number of children, smoking status, and region. Five regression models are trained and compared:</a:t>
            </a:r>
            <a:endParaRPr lang="en-US" sz="1400" dirty="0"/>
          </a:p>
          <a:p>
            <a:pPr indent="0" marL="0">
              <a:buNone/>
            </a:pPr>
            <a:endParaRPr lang="en-US" sz="1400" dirty="0"/>
          </a:p>
          <a:p>
            <a:pPr indent="0" marL="0">
              <a:buNone/>
            </a:pPr>
            <a:r>
              <a:rPr lang="en-US" sz="1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Linear Regression, Decision Tree, Random Forest, Gradient Boosting, and SVR.</a:t>
            </a:r>
            <a:endParaRPr lang="en-US" sz="1400" dirty="0"/>
          </a:p>
          <a:p>
            <a:pPr indent="0" marL="0">
              <a:buNone/>
            </a:pP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Gradient Boosting achieved the best R² score of 0.878, making it the most accurate predictor. The study demonstrates how ensemble methods outperform individual models for insurance cost prediction.</a:t>
            </a:r>
            <a:endParaRPr lang="en-US" sz="14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0F4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137160"/>
            <a:ext cx="80467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Problem Statement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0" y="4892040"/>
            <a:ext cx="9144000" cy="251460"/>
          </a:xfrm>
          <a:prstGeom prst="rect">
            <a:avLst/>
          </a:prstGeom>
          <a:solidFill>
            <a:srgbClr val="00A896"/>
          </a:solidFill>
          <a:ln/>
        </p:spPr>
      </p:sp>
      <p:sp>
        <p:nvSpPr>
          <p:cNvPr id="5" name="Shape 3"/>
          <p:cNvSpPr/>
          <p:nvPr/>
        </p:nvSpPr>
        <p:spPr>
          <a:xfrm>
            <a:off x="457200" y="1097280"/>
            <a:ext cx="3840480" cy="36576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2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457200" y="1097280"/>
            <a:ext cx="73152" cy="3657600"/>
          </a:xfrm>
          <a:prstGeom prst="rect">
            <a:avLst/>
          </a:prstGeom>
          <a:solidFill>
            <a:srgbClr val="F96167"/>
          </a:solidFill>
          <a:ln/>
        </p:spPr>
      </p:sp>
      <p:sp>
        <p:nvSpPr>
          <p:cNvPr id="7" name="Text 5"/>
          <p:cNvSpPr/>
          <p:nvPr/>
        </p:nvSpPr>
        <p:spPr>
          <a:xfrm>
            <a:off x="822960" y="1234440"/>
            <a:ext cx="3200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E27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Challenge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822960" y="1737360"/>
            <a:ext cx="3200400" cy="2743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Insurance companies need accurate cost estimates to set fair premiums.</a:t>
            </a:r>
            <a:endParaRPr lang="en-US" sz="1300" dirty="0"/>
          </a:p>
          <a:p>
            <a:pPr indent="0" marL="0">
              <a:buNone/>
            </a:pP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Manual estimation is error-prone, time-consuming, and inconsistent across different evaluators.</a:t>
            </a:r>
            <a:endParaRPr lang="en-US" sz="1300" dirty="0"/>
          </a:p>
          <a:p>
            <a:pPr indent="0" marL="0">
              <a:buNone/>
            </a:pP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 ML-based solution can process multiple factors simultaneously to generate reliable predictions.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4846320" y="1097280"/>
            <a:ext cx="3840480" cy="36576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2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4846320" y="1097280"/>
            <a:ext cx="73152" cy="3657600"/>
          </a:xfrm>
          <a:prstGeom prst="rect">
            <a:avLst/>
          </a:prstGeom>
          <a:solidFill>
            <a:srgbClr val="00A896"/>
          </a:solidFill>
          <a:ln/>
        </p:spPr>
      </p:sp>
      <p:sp>
        <p:nvSpPr>
          <p:cNvPr id="11" name="Text 9"/>
          <p:cNvSpPr/>
          <p:nvPr/>
        </p:nvSpPr>
        <p:spPr>
          <a:xfrm>
            <a:off x="5212080" y="1234440"/>
            <a:ext cx="3200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E27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Objectives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5212080" y="1737360"/>
            <a:ext cx="3200400" cy="2743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Analyze factors affecting insurance charges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 and compare 5 ML regression models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Identify the best performing algorithm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Provide accurate cost predictions for new customers</a:t>
            </a:r>
            <a:endParaRPr lang="en-US" sz="13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0F4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137160"/>
            <a:ext cx="80467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Tools &amp; Technologies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0" y="4892040"/>
            <a:ext cx="9144000" cy="251460"/>
          </a:xfrm>
          <a:prstGeom prst="rect">
            <a:avLst/>
          </a:prstGeom>
          <a:solidFill>
            <a:srgbClr val="00A896"/>
          </a:solidFill>
          <a:ln/>
        </p:spPr>
      </p:sp>
      <p:sp>
        <p:nvSpPr>
          <p:cNvPr id="5" name="Shape 3"/>
          <p:cNvSpPr/>
          <p:nvPr/>
        </p:nvSpPr>
        <p:spPr>
          <a:xfrm>
            <a:off x="457200" y="1097280"/>
            <a:ext cx="2560320" cy="16459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2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457200" y="1097280"/>
            <a:ext cx="2560320" cy="54864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7" name="Text 5"/>
          <p:cNvSpPr/>
          <p:nvPr/>
        </p:nvSpPr>
        <p:spPr>
          <a:xfrm>
            <a:off x="640080" y="1325880"/>
            <a:ext cx="21945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E27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Python 3.x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640080" y="1828800"/>
            <a:ext cx="21945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Core programming language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3291840" y="1097280"/>
            <a:ext cx="2560320" cy="16459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2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3291840" y="1097280"/>
            <a:ext cx="2560320" cy="54864"/>
          </a:xfrm>
          <a:prstGeom prst="rect">
            <a:avLst/>
          </a:prstGeom>
          <a:solidFill>
            <a:srgbClr val="065A82"/>
          </a:solidFill>
          <a:ln/>
        </p:spPr>
      </p:sp>
      <p:sp>
        <p:nvSpPr>
          <p:cNvPr id="11" name="Text 9"/>
          <p:cNvSpPr/>
          <p:nvPr/>
        </p:nvSpPr>
        <p:spPr>
          <a:xfrm>
            <a:off x="3474720" y="1325880"/>
            <a:ext cx="21945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E27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Scikit-learn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3474720" y="1828800"/>
            <a:ext cx="21945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ML model training &amp; evaluation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6126480" y="1097280"/>
            <a:ext cx="2560320" cy="16459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2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6126480" y="1097280"/>
            <a:ext cx="2560320" cy="54864"/>
          </a:xfrm>
          <a:prstGeom prst="rect">
            <a:avLst/>
          </a:prstGeom>
          <a:solidFill>
            <a:srgbClr val="1C7293"/>
          </a:solidFill>
          <a:ln/>
        </p:spPr>
      </p:sp>
      <p:sp>
        <p:nvSpPr>
          <p:cNvPr id="15" name="Text 13"/>
          <p:cNvSpPr/>
          <p:nvPr/>
        </p:nvSpPr>
        <p:spPr>
          <a:xfrm>
            <a:off x="6309360" y="1325880"/>
            <a:ext cx="21945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E27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Pandas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6309360" y="1828800"/>
            <a:ext cx="21945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manipulation &amp; analysis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457200" y="3017520"/>
            <a:ext cx="2560320" cy="16459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2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457200" y="3017520"/>
            <a:ext cx="2560320" cy="54864"/>
          </a:xfrm>
          <a:prstGeom prst="rect">
            <a:avLst/>
          </a:prstGeom>
          <a:solidFill>
            <a:srgbClr val="21295C"/>
          </a:solidFill>
          <a:ln/>
        </p:spPr>
      </p:sp>
      <p:sp>
        <p:nvSpPr>
          <p:cNvPr id="19" name="Text 17"/>
          <p:cNvSpPr/>
          <p:nvPr/>
        </p:nvSpPr>
        <p:spPr>
          <a:xfrm>
            <a:off x="640080" y="3246120"/>
            <a:ext cx="21945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E27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NumPy</a:t>
            </a:r>
            <a:endParaRPr lang="en-US" sz="1600" dirty="0"/>
          </a:p>
        </p:txBody>
      </p:sp>
      <p:sp>
        <p:nvSpPr>
          <p:cNvPr id="20" name="Text 18"/>
          <p:cNvSpPr/>
          <p:nvPr/>
        </p:nvSpPr>
        <p:spPr>
          <a:xfrm>
            <a:off x="640080" y="3749040"/>
            <a:ext cx="21945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Numerical computations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3291840" y="3017520"/>
            <a:ext cx="2560320" cy="16459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2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3291840" y="3017520"/>
            <a:ext cx="2560320" cy="54864"/>
          </a:xfrm>
          <a:prstGeom prst="rect">
            <a:avLst/>
          </a:prstGeom>
          <a:solidFill>
            <a:srgbClr val="00A896"/>
          </a:solidFill>
          <a:ln/>
        </p:spPr>
      </p:sp>
      <p:sp>
        <p:nvSpPr>
          <p:cNvPr id="23" name="Text 21"/>
          <p:cNvSpPr/>
          <p:nvPr/>
        </p:nvSpPr>
        <p:spPr>
          <a:xfrm>
            <a:off x="3474720" y="3246120"/>
            <a:ext cx="21945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E27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Matplotlib</a:t>
            </a:r>
            <a:endParaRPr lang="en-US" sz="1600" dirty="0"/>
          </a:p>
        </p:txBody>
      </p:sp>
      <p:sp>
        <p:nvSpPr>
          <p:cNvPr id="24" name="Text 22"/>
          <p:cNvSpPr/>
          <p:nvPr/>
        </p:nvSpPr>
        <p:spPr>
          <a:xfrm>
            <a:off x="3474720" y="3749040"/>
            <a:ext cx="21945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visualization &amp; plots</a:t>
            </a:r>
            <a:endParaRPr lang="en-US" sz="1200" dirty="0"/>
          </a:p>
        </p:txBody>
      </p:sp>
      <p:sp>
        <p:nvSpPr>
          <p:cNvPr id="25" name="Shape 23"/>
          <p:cNvSpPr/>
          <p:nvPr/>
        </p:nvSpPr>
        <p:spPr>
          <a:xfrm>
            <a:off x="6126480" y="3017520"/>
            <a:ext cx="2560320" cy="16459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2000"/>
              </a:srgbClr>
            </a:outerShdw>
          </a:effectLst>
        </p:spPr>
      </p:sp>
      <p:sp>
        <p:nvSpPr>
          <p:cNvPr id="26" name="Shape 24"/>
          <p:cNvSpPr/>
          <p:nvPr/>
        </p:nvSpPr>
        <p:spPr>
          <a:xfrm>
            <a:off x="6126480" y="3017520"/>
            <a:ext cx="2560320" cy="54864"/>
          </a:xfrm>
          <a:prstGeom prst="rect">
            <a:avLst/>
          </a:prstGeom>
          <a:solidFill>
            <a:srgbClr val="02C39A"/>
          </a:solidFill>
          <a:ln/>
        </p:spPr>
      </p:sp>
      <p:sp>
        <p:nvSpPr>
          <p:cNvPr id="27" name="Text 25"/>
          <p:cNvSpPr/>
          <p:nvPr/>
        </p:nvSpPr>
        <p:spPr>
          <a:xfrm>
            <a:off x="6309360" y="3246120"/>
            <a:ext cx="21945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E27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Seaborn</a:t>
            </a:r>
            <a:endParaRPr lang="en-US" sz="1600" dirty="0"/>
          </a:p>
        </p:txBody>
      </p:sp>
      <p:sp>
        <p:nvSpPr>
          <p:cNvPr id="28" name="Text 26"/>
          <p:cNvSpPr/>
          <p:nvPr/>
        </p:nvSpPr>
        <p:spPr>
          <a:xfrm>
            <a:off x="6309360" y="3749040"/>
            <a:ext cx="21945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Statistical graphics</a:t>
            </a:r>
            <a:endParaRPr lang="en-US" sz="12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0F4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137160"/>
            <a:ext cx="80467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Detailed Tool Descriptions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0" y="4892040"/>
            <a:ext cx="9144000" cy="251460"/>
          </a:xfrm>
          <a:prstGeom prst="rect">
            <a:avLst/>
          </a:prstGeom>
          <a:solidFill>
            <a:srgbClr val="00A896"/>
          </a:solidFill>
          <a:ln/>
        </p:spPr>
      </p:sp>
      <p:sp>
        <p:nvSpPr>
          <p:cNvPr id="5" name="Shape 3"/>
          <p:cNvSpPr/>
          <p:nvPr/>
        </p:nvSpPr>
        <p:spPr>
          <a:xfrm>
            <a:off x="457200" y="1097280"/>
            <a:ext cx="3840480" cy="36576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2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731520" y="1280160"/>
            <a:ext cx="3291840" cy="3291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500" b="1" dirty="0">
                <a:solidFill>
                  <a:srgbClr val="1E27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Python</a:t>
            </a:r>
            <a:endParaRPr lang="en-US" sz="1500" dirty="0"/>
          </a:p>
          <a:p>
            <a:pPr indent="0" marL="0">
              <a:spcAft>
                <a:spcPts val="1000"/>
              </a:spcAft>
              <a:buNone/>
            </a:pPr>
            <a:r>
              <a:rPr lang="en-US" sz="11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High-level, general-purpose language with extensive ML ecosystem. Chosen for its simplicity and vast library support.</a:t>
            </a:r>
            <a:endParaRPr lang="en-US" sz="15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500" b="1" dirty="0">
                <a:solidFill>
                  <a:srgbClr val="1E27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Scikit-learn</a:t>
            </a:r>
            <a:endParaRPr lang="en-US" sz="1500" dirty="0"/>
          </a:p>
          <a:p>
            <a:pPr indent="0" marL="0">
              <a:spcAft>
                <a:spcPts val="1000"/>
              </a:spcAft>
              <a:buNone/>
            </a:pPr>
            <a:r>
              <a:rPr lang="en-US" sz="11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Provides efficient implementations of ML algorithms including regression, classification, and preprocessing utilities.</a:t>
            </a:r>
            <a:endParaRPr lang="en-US" sz="15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500" b="1" dirty="0">
                <a:solidFill>
                  <a:srgbClr val="1E27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Pandas &amp; NumPy</a:t>
            </a:r>
            <a:endParaRPr lang="en-US" sz="1500" dirty="0"/>
          </a:p>
          <a:p>
            <a:pPr indent="0" marL="0">
              <a:buNone/>
            </a:pPr>
            <a:r>
              <a:rPr lang="en-US" sz="11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Pandas handles tabular data with DataFrames. NumPy provides fast array operations and mathematical functions.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4846320" y="1097280"/>
            <a:ext cx="3840480" cy="36576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2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5120640" y="1280160"/>
            <a:ext cx="3291840" cy="3291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500" b="1" dirty="0">
                <a:solidFill>
                  <a:srgbClr val="1E27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Matplotlib &amp; Seaborn</a:t>
            </a:r>
            <a:endParaRPr lang="en-US" sz="1500" dirty="0"/>
          </a:p>
          <a:p>
            <a:pPr indent="0" marL="0">
              <a:spcAft>
                <a:spcPts val="1000"/>
              </a:spcAft>
              <a:buNone/>
            </a:pPr>
            <a:r>
              <a:rPr lang="en-US" sz="11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Matplotlib creates static, animated, and interactive plots. Seaborn builds on it for attractive statistical graphics like heatmaps and distributions.</a:t>
            </a:r>
            <a:endParaRPr lang="en-US" sz="15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500" b="1" dirty="0">
                <a:solidFill>
                  <a:srgbClr val="1E27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Jupyter Notebook</a:t>
            </a:r>
            <a:endParaRPr lang="en-US" sz="1500" dirty="0"/>
          </a:p>
          <a:p>
            <a:pPr indent="0" marL="0">
              <a:spcAft>
                <a:spcPts val="1000"/>
              </a:spcAft>
              <a:buNone/>
            </a:pPr>
            <a:r>
              <a:rPr lang="en-US" sz="11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Interactive development environment for running code in cells, visualizing outputs inline, and documenting the analysis process.</a:t>
            </a:r>
            <a:endParaRPr lang="en-US" sz="15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500" b="1" dirty="0">
                <a:solidFill>
                  <a:srgbClr val="1E27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StandardScaler</a:t>
            </a:r>
            <a:endParaRPr lang="en-US" sz="1500" dirty="0"/>
          </a:p>
          <a:p>
            <a:pPr indent="0" marL="0">
              <a:buNone/>
            </a:pPr>
            <a:r>
              <a:rPr lang="en-US" sz="11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Standardizes features by removing mean and scaling to unit variance. Essential for SVR which is sensitive to feature scales.</a:t>
            </a:r>
            <a:endParaRPr lang="en-US" sz="15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0F4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137160"/>
            <a:ext cx="80467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Dataset Overview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0" y="4892040"/>
            <a:ext cx="9144000" cy="251460"/>
          </a:xfrm>
          <a:prstGeom prst="rect">
            <a:avLst/>
          </a:prstGeom>
          <a:solidFill>
            <a:srgbClr val="00A896"/>
          </a:solidFill>
          <a:ln/>
        </p:spPr>
      </p:sp>
      <p:graphicFrame>
        <p:nvGraphicFramePr>
          <p:cNvPr id="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097280"/>
          <a:ext cx="8229600" cy="914400"/>
        </p:xfrm>
        <a:graphic>
          <a:graphicData uri="http://schemas.openxmlformats.org/drawingml/2006/table">
            <a:tbl>
              <a:tblPr/>
              <a:tblGrid>
                <a:gridCol w="1371600"/>
                <a:gridCol w="1645920"/>
                <a:gridCol w="5212080"/>
              </a:tblGrid>
              <a:tr h="41148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Feature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Type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Description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age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Numeric</a:t>
                      </a:r>
                      <a:endParaRPr lang="en-US" sz="12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Age of the insured person</a:t>
                      </a:r>
                      <a:endParaRPr lang="en-US" sz="12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sex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Categorical</a:t>
                      </a:r>
                      <a:endParaRPr lang="en-US" sz="12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Gender (male/female)</a:t>
                      </a:r>
                      <a:endParaRPr lang="en-US" sz="12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bmi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Numeric</a:t>
                      </a:r>
                      <a:endParaRPr lang="en-US" sz="12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Body Mass Index</a:t>
                      </a:r>
                      <a:endParaRPr lang="en-US" sz="12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children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Numeric</a:t>
                      </a:r>
                      <a:endParaRPr lang="en-US" sz="12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Number of dependents</a:t>
                      </a:r>
                      <a:endParaRPr lang="en-US" sz="12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smoker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Categorical</a:t>
                      </a:r>
                      <a:endParaRPr lang="en-US" sz="12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Smoking status (yes/no)</a:t>
                      </a:r>
                      <a:endParaRPr lang="en-US" sz="12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region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Categorical</a:t>
                      </a:r>
                      <a:endParaRPr lang="en-US" sz="12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Residential area (4 regions)</a:t>
                      </a:r>
                      <a:endParaRPr lang="en-US" sz="12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00A89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charges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Numeric</a:t>
                      </a:r>
                      <a:endParaRPr lang="en-US" sz="12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000000"/>
                          </a:solidFill>
                        </a:rPr>
                        <a:t>Medical insurance cost (Target)</a:t>
                      </a:r>
                      <a:endParaRPr lang="en-US" sz="12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6" name="Text 3"/>
          <p:cNvSpPr/>
          <p:nvPr/>
        </p:nvSpPr>
        <p:spPr>
          <a:xfrm>
            <a:off x="457200" y="438912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1,338 records  •  6 features  •  1 target variable  •  No missing values</a:t>
            </a:r>
            <a:endParaRPr lang="en-US" sz="13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0F4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137160"/>
            <a:ext cx="80467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Methodology Flowchart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0" y="4892040"/>
            <a:ext cx="9144000" cy="251460"/>
          </a:xfrm>
          <a:prstGeom prst="rect">
            <a:avLst/>
          </a:prstGeom>
          <a:solidFill>
            <a:srgbClr val="00A896"/>
          </a:solidFill>
          <a:ln/>
        </p:spPr>
      </p:sp>
      <p:sp>
        <p:nvSpPr>
          <p:cNvPr id="5" name="Shape 3"/>
          <p:cNvSpPr/>
          <p:nvPr/>
        </p:nvSpPr>
        <p:spPr>
          <a:xfrm>
            <a:off x="274320" y="1371600"/>
            <a:ext cx="1234440" cy="1097280"/>
          </a:xfrm>
          <a:prstGeom prst="rect">
            <a:avLst/>
          </a:prstGeom>
          <a:solidFill>
            <a:srgbClr val="1E2761"/>
          </a:solidFill>
          <a:ln/>
          <a:effectLst>
            <a:outerShdw sx="100000" sy="100000" kx="0" ky="0" algn="bl" rotWithShape="0" blurRad="50800" dist="25400" dir="8100000">
              <a:srgbClr val="000000">
                <a:alpha val="12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274320" y="1371600"/>
            <a:ext cx="123444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Collection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1508760" y="1920240"/>
            <a:ext cx="228600" cy="0"/>
          </a:xfrm>
          <a:prstGeom prst="line">
            <a:avLst/>
          </a:prstGeom>
          <a:noFill/>
          <a:ln w="25400">
            <a:solidFill>
              <a:srgbClr val="1E2761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1737360" y="1371600"/>
            <a:ext cx="1234440" cy="1097280"/>
          </a:xfrm>
          <a:prstGeom prst="rect">
            <a:avLst/>
          </a:prstGeom>
          <a:solidFill>
            <a:srgbClr val="065A82"/>
          </a:solidFill>
          <a:ln/>
          <a:effectLst>
            <a:outerShdw sx="100000" sy="100000" kx="0" ky="0" algn="bl" rotWithShape="0" blurRad="50800" dist="25400" dir="8100000">
              <a:srgbClr val="000000">
                <a:alpha val="12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1737360" y="1371600"/>
            <a:ext cx="123444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EDA &amp;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Visualization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2971800" y="1920240"/>
            <a:ext cx="228600" cy="0"/>
          </a:xfrm>
          <a:prstGeom prst="line">
            <a:avLst/>
          </a:prstGeom>
          <a:noFill/>
          <a:ln w="25400">
            <a:solidFill>
              <a:srgbClr val="1E2761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3200400" y="1371600"/>
            <a:ext cx="1234440" cy="1097280"/>
          </a:xfrm>
          <a:prstGeom prst="rect">
            <a:avLst/>
          </a:prstGeom>
          <a:solidFill>
            <a:srgbClr val="1C7293"/>
          </a:solidFill>
          <a:ln/>
          <a:effectLst>
            <a:outerShdw sx="100000" sy="100000" kx="0" ky="0" algn="bl" rotWithShape="0" blurRad="50800" dist="25400" dir="8100000">
              <a:srgbClr val="000000">
                <a:alpha val="12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3200400" y="1371600"/>
            <a:ext cx="123444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Preprocessing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4434840" y="1920240"/>
            <a:ext cx="228600" cy="0"/>
          </a:xfrm>
          <a:prstGeom prst="line">
            <a:avLst/>
          </a:prstGeom>
          <a:noFill/>
          <a:ln w="25400">
            <a:solidFill>
              <a:srgbClr val="1E2761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4663440" y="1371600"/>
            <a:ext cx="1234440" cy="1097280"/>
          </a:xfrm>
          <a:prstGeom prst="rect">
            <a:avLst/>
          </a:prstGeom>
          <a:solidFill>
            <a:srgbClr val="21295C"/>
          </a:solidFill>
          <a:ln/>
          <a:effectLst>
            <a:outerShdw sx="100000" sy="100000" kx="0" ky="0" algn="bl" rotWithShape="0" blurRad="50800" dist="25400" dir="8100000">
              <a:srgbClr val="000000">
                <a:alpha val="12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4663440" y="1371600"/>
            <a:ext cx="123444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Train-Test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Split (80/20)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5897880" y="1920240"/>
            <a:ext cx="228600" cy="0"/>
          </a:xfrm>
          <a:prstGeom prst="line">
            <a:avLst/>
          </a:prstGeom>
          <a:noFill/>
          <a:ln w="25400">
            <a:solidFill>
              <a:srgbClr val="1E2761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6126480" y="1371600"/>
            <a:ext cx="1234440" cy="1097280"/>
          </a:xfrm>
          <a:prstGeom prst="rect">
            <a:avLst/>
          </a:prstGeom>
          <a:solidFill>
            <a:srgbClr val="00A896"/>
          </a:solidFill>
          <a:ln/>
          <a:effectLst>
            <a:outerShdw sx="100000" sy="100000" kx="0" ky="0" algn="bl" rotWithShape="0" blurRad="50800" dist="25400" dir="8100000">
              <a:srgbClr val="000000">
                <a:alpha val="12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6126480" y="1371600"/>
            <a:ext cx="123444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Training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7360920" y="1920240"/>
            <a:ext cx="228600" cy="0"/>
          </a:xfrm>
          <a:prstGeom prst="line">
            <a:avLst/>
          </a:prstGeom>
          <a:noFill/>
          <a:ln w="25400">
            <a:solidFill>
              <a:srgbClr val="1E2761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7589520" y="1371600"/>
            <a:ext cx="1234440" cy="1097280"/>
          </a:xfrm>
          <a:prstGeom prst="rect">
            <a:avLst/>
          </a:prstGeom>
          <a:solidFill>
            <a:srgbClr val="02C39A"/>
          </a:solidFill>
          <a:ln/>
          <a:effectLst>
            <a:outerShdw sx="100000" sy="100000" kx="0" ky="0" algn="bl" rotWithShape="0" blurRad="50800" dist="25400" dir="8100000">
              <a:srgbClr val="000000">
                <a:alpha val="12000"/>
              </a:srgbClr>
            </a:outerShdw>
          </a:effectLst>
        </p:spPr>
      </p:sp>
      <p:sp>
        <p:nvSpPr>
          <p:cNvPr id="21" name="Text 19"/>
          <p:cNvSpPr/>
          <p:nvPr/>
        </p:nvSpPr>
        <p:spPr>
          <a:xfrm>
            <a:off x="7589520" y="1371600"/>
            <a:ext cx="123444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Evaluation &amp;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Comparison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457200" y="2834640"/>
            <a:ext cx="3840480" cy="19202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2000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457200" y="2834640"/>
            <a:ext cx="73152" cy="1920240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24" name="Text 22"/>
          <p:cNvSpPr/>
          <p:nvPr/>
        </p:nvSpPr>
        <p:spPr>
          <a:xfrm>
            <a:off x="777240" y="2926080"/>
            <a:ext cx="3200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7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Preprocessing Steps</a:t>
            </a:r>
            <a:endParaRPr lang="en-US" sz="1400" dirty="0"/>
          </a:p>
        </p:txBody>
      </p:sp>
      <p:sp>
        <p:nvSpPr>
          <p:cNvPr id="25" name="Text 23"/>
          <p:cNvSpPr/>
          <p:nvPr/>
        </p:nvSpPr>
        <p:spPr>
          <a:xfrm>
            <a:off x="777240" y="3291840"/>
            <a:ext cx="3291840" cy="12801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Label Encoding for categorical variables</a:t>
            </a:r>
            <a:endParaRPr lang="en-US" sz="115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StandardScaler for SVR features</a:t>
            </a:r>
            <a:endParaRPr lang="en-US" sz="1150" dirty="0"/>
          </a:p>
          <a:p>
            <a:pPr marL="342900" indent="-342900">
              <a:buSzPct val="100000"/>
              <a:buChar char="•"/>
            </a:pPr>
            <a:r>
              <a:rPr lang="en-US" sz="11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80/20 train-test split (random_state=42)</a:t>
            </a:r>
            <a:endParaRPr lang="en-US" sz="1150" dirty="0"/>
          </a:p>
        </p:txBody>
      </p:sp>
      <p:sp>
        <p:nvSpPr>
          <p:cNvPr id="26" name="Shape 24"/>
          <p:cNvSpPr/>
          <p:nvPr/>
        </p:nvSpPr>
        <p:spPr>
          <a:xfrm>
            <a:off x="4846320" y="2834640"/>
            <a:ext cx="3840480" cy="19202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2000"/>
              </a:srgbClr>
            </a:outerShdw>
          </a:effectLst>
        </p:spPr>
      </p:sp>
      <p:sp>
        <p:nvSpPr>
          <p:cNvPr id="27" name="Shape 25"/>
          <p:cNvSpPr/>
          <p:nvPr/>
        </p:nvSpPr>
        <p:spPr>
          <a:xfrm>
            <a:off x="4846320" y="2834640"/>
            <a:ext cx="73152" cy="1920240"/>
          </a:xfrm>
          <a:prstGeom prst="rect">
            <a:avLst/>
          </a:prstGeom>
          <a:solidFill>
            <a:srgbClr val="00A896"/>
          </a:solidFill>
          <a:ln/>
        </p:spPr>
      </p:sp>
      <p:sp>
        <p:nvSpPr>
          <p:cNvPr id="28" name="Text 26"/>
          <p:cNvSpPr/>
          <p:nvPr/>
        </p:nvSpPr>
        <p:spPr>
          <a:xfrm>
            <a:off x="5166360" y="2926080"/>
            <a:ext cx="3200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7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Models Implemented</a:t>
            </a:r>
            <a:endParaRPr lang="en-US" sz="1400" dirty="0"/>
          </a:p>
        </p:txBody>
      </p:sp>
      <p:sp>
        <p:nvSpPr>
          <p:cNvPr id="29" name="Text 27"/>
          <p:cNvSpPr/>
          <p:nvPr/>
        </p:nvSpPr>
        <p:spPr>
          <a:xfrm>
            <a:off x="5166360" y="3291840"/>
            <a:ext cx="3291840" cy="12801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Linear Regression</a:t>
            </a:r>
            <a:endParaRPr lang="en-US" sz="115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Decision Tree Regressor</a:t>
            </a:r>
            <a:endParaRPr lang="en-US" sz="115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Random Forest Regressor</a:t>
            </a:r>
            <a:endParaRPr lang="en-US" sz="115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Gradient Boosting Regressor</a:t>
            </a:r>
            <a:endParaRPr lang="en-US" sz="1150" dirty="0"/>
          </a:p>
          <a:p>
            <a:pPr marL="342900" indent="-342900">
              <a:buSzPct val="100000"/>
              <a:buChar char="•"/>
            </a:pPr>
            <a:r>
              <a:rPr lang="en-US" sz="11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Support Vector Regressor (SVR)</a:t>
            </a:r>
            <a:endParaRPr lang="en-US" sz="11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0F4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137160"/>
            <a:ext cx="80467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Algorithm Details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0" y="4892040"/>
            <a:ext cx="9144000" cy="251460"/>
          </a:xfrm>
          <a:prstGeom prst="rect">
            <a:avLst/>
          </a:prstGeom>
          <a:solidFill>
            <a:srgbClr val="00A896"/>
          </a:solidFill>
          <a:ln/>
        </p:spPr>
      </p:sp>
      <p:sp>
        <p:nvSpPr>
          <p:cNvPr id="5" name="Shape 3"/>
          <p:cNvSpPr/>
          <p:nvPr/>
        </p:nvSpPr>
        <p:spPr>
          <a:xfrm>
            <a:off x="365760" y="1051560"/>
            <a:ext cx="2606040" cy="18288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2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365760" y="1051560"/>
            <a:ext cx="2606040" cy="54864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7" name="Text 5"/>
          <p:cNvSpPr/>
          <p:nvPr/>
        </p:nvSpPr>
        <p:spPr>
          <a:xfrm>
            <a:off x="502920" y="1188720"/>
            <a:ext cx="2331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7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Linear Regression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502920" y="1600200"/>
            <a:ext cx="2331720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Finds the best-fit line minimizing sum of squared residuals. Assumes a linear relationship between features and target. Simple, interpretable, fast.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3246120" y="1051560"/>
            <a:ext cx="2606040" cy="18288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2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3246120" y="1051560"/>
            <a:ext cx="2606040" cy="54864"/>
          </a:xfrm>
          <a:prstGeom prst="rect">
            <a:avLst/>
          </a:prstGeom>
          <a:solidFill>
            <a:srgbClr val="065A82"/>
          </a:solidFill>
          <a:ln/>
        </p:spPr>
      </p:sp>
      <p:sp>
        <p:nvSpPr>
          <p:cNvPr id="11" name="Text 9"/>
          <p:cNvSpPr/>
          <p:nvPr/>
        </p:nvSpPr>
        <p:spPr>
          <a:xfrm>
            <a:off x="3383280" y="1188720"/>
            <a:ext cx="2331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7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Decision Tree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3383280" y="1600200"/>
            <a:ext cx="2331720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Splits data recursively based on feature thresholds. Creates a tree structure. Prone to overfitting but captures non-linear relationships.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6126480" y="1051560"/>
            <a:ext cx="2606040" cy="18288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2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6126480" y="1051560"/>
            <a:ext cx="2606040" cy="54864"/>
          </a:xfrm>
          <a:prstGeom prst="rect">
            <a:avLst/>
          </a:prstGeom>
          <a:solidFill>
            <a:srgbClr val="1C7293"/>
          </a:solidFill>
          <a:ln/>
        </p:spPr>
      </p:sp>
      <p:sp>
        <p:nvSpPr>
          <p:cNvPr id="15" name="Text 13"/>
          <p:cNvSpPr/>
          <p:nvPr/>
        </p:nvSpPr>
        <p:spPr>
          <a:xfrm>
            <a:off x="6263640" y="1188720"/>
            <a:ext cx="2331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7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Random Forest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6263640" y="1600200"/>
            <a:ext cx="2331720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Ensemble of multiple decision trees trained on random subsets. Reduces overfitting through bagging. More robust and accurate than single trees.</a:t>
            </a:r>
            <a:endParaRPr lang="en-US" sz="1050" dirty="0"/>
          </a:p>
        </p:txBody>
      </p:sp>
      <p:sp>
        <p:nvSpPr>
          <p:cNvPr id="17" name="Shape 15"/>
          <p:cNvSpPr/>
          <p:nvPr/>
        </p:nvSpPr>
        <p:spPr>
          <a:xfrm>
            <a:off x="1600200" y="3108960"/>
            <a:ext cx="2651760" cy="18288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2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1600200" y="3108960"/>
            <a:ext cx="2651760" cy="54864"/>
          </a:xfrm>
          <a:prstGeom prst="rect">
            <a:avLst/>
          </a:prstGeom>
          <a:solidFill>
            <a:srgbClr val="00A896"/>
          </a:solidFill>
          <a:ln/>
        </p:spPr>
      </p:sp>
      <p:sp>
        <p:nvSpPr>
          <p:cNvPr id="19" name="Text 17"/>
          <p:cNvSpPr/>
          <p:nvPr/>
        </p:nvSpPr>
        <p:spPr>
          <a:xfrm>
            <a:off x="1737360" y="3246120"/>
            <a:ext cx="23774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7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Gradient Boosting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1737360" y="3657600"/>
            <a:ext cx="2377440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Builds trees sequentially, each correcting errors of the previous. Combines weak learners into a strong predictor. Often achieves best accuracy.</a:t>
            </a:r>
            <a:endParaRPr lang="en-US" sz="1050" dirty="0"/>
          </a:p>
        </p:txBody>
      </p:sp>
      <p:sp>
        <p:nvSpPr>
          <p:cNvPr id="21" name="Shape 19"/>
          <p:cNvSpPr/>
          <p:nvPr/>
        </p:nvSpPr>
        <p:spPr>
          <a:xfrm>
            <a:off x="4617720" y="3108960"/>
            <a:ext cx="2651760" cy="18288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2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4617720" y="3108960"/>
            <a:ext cx="2651760" cy="54864"/>
          </a:xfrm>
          <a:prstGeom prst="rect">
            <a:avLst/>
          </a:prstGeom>
          <a:solidFill>
            <a:srgbClr val="F96167"/>
          </a:solidFill>
          <a:ln/>
        </p:spPr>
      </p:sp>
      <p:sp>
        <p:nvSpPr>
          <p:cNvPr id="23" name="Text 21"/>
          <p:cNvSpPr/>
          <p:nvPr/>
        </p:nvSpPr>
        <p:spPr>
          <a:xfrm>
            <a:off x="4754880" y="3246120"/>
            <a:ext cx="23774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7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SVR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4754880" y="3657600"/>
            <a:ext cx="2377440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Maps data to higher dimensions using kernel functions. Finds optimal hyperplane with maximum margin. Requires feature scaling. Handles non-linearity well.</a:t>
            </a:r>
            <a:endParaRPr lang="en-US" sz="10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0F4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137160"/>
            <a:ext cx="80467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Results &amp; Accuracy Metrics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0" y="4892040"/>
            <a:ext cx="9144000" cy="251460"/>
          </a:xfrm>
          <a:prstGeom prst="rect">
            <a:avLst/>
          </a:prstGeom>
          <a:solidFill>
            <a:srgbClr val="00A896"/>
          </a:solidFill>
          <a:ln/>
        </p:spPr>
      </p:sp>
      <p:graphicFrame>
        <p:nvGraphicFramePr>
          <p:cNvPr id="10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097280"/>
          <a:ext cx="8229600" cy="914400"/>
        </p:xfrm>
        <a:graphic>
          <a:graphicData uri="http://schemas.openxmlformats.org/drawingml/2006/table">
            <a:tbl>
              <a:tblPr/>
              <a:tblGrid>
                <a:gridCol w="2743200"/>
                <a:gridCol w="1828800"/>
                <a:gridCol w="1828800"/>
                <a:gridCol w="1828800"/>
              </a:tblGrid>
              <a:tr h="41148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Model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MAE ($)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RMSE ($)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R² Score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Linear Regression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4,186.51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5,799.59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0.7833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Decision Tree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3,154.71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7,000.23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0.6844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Random Forest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2,533.67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4,590.57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0.8643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00A89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Gradient Boosting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00A89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2,447.95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00A89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4,352.54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00A89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0.8780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SVR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3,722.73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8,023.10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0.5854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graphicFrame>
        <p:nvGraphicFramePr>
          <p:cNvPr id="6" name="Chart 0" descr=""/>
          <p:cNvGraphicFramePr/>
          <p:nvPr/>
        </p:nvGraphicFramePr>
        <p:xfrm>
          <a:off x="457200" y="3657600"/>
          <a:ext cx="8229600" cy="109728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0F4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137160"/>
            <a:ext cx="80467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Key Findings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0" y="4892040"/>
            <a:ext cx="9144000" cy="251460"/>
          </a:xfrm>
          <a:prstGeom prst="rect">
            <a:avLst/>
          </a:prstGeom>
          <a:solidFill>
            <a:srgbClr val="00A896"/>
          </a:solidFill>
          <a:ln/>
        </p:spPr>
      </p:sp>
      <p:sp>
        <p:nvSpPr>
          <p:cNvPr id="5" name="Shape 3"/>
          <p:cNvSpPr/>
          <p:nvPr/>
        </p:nvSpPr>
        <p:spPr>
          <a:xfrm>
            <a:off x="457200" y="1188720"/>
            <a:ext cx="2560320" cy="18288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2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457200" y="1371600"/>
            <a:ext cx="25603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00A89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0.878</a:t>
            </a:r>
            <a:endParaRPr lang="en-US" sz="3600" dirty="0"/>
          </a:p>
        </p:txBody>
      </p:sp>
      <p:sp>
        <p:nvSpPr>
          <p:cNvPr id="7" name="Text 5"/>
          <p:cNvSpPr/>
          <p:nvPr/>
        </p:nvSpPr>
        <p:spPr>
          <a:xfrm>
            <a:off x="457200" y="2103120"/>
            <a:ext cx="25603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Best R² Score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(Gradient Boosting)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3291840" y="1188720"/>
            <a:ext cx="2560320" cy="18288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2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3291840" y="1371600"/>
            <a:ext cx="25603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1E27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$2,448</a:t>
            </a:r>
            <a:endParaRPr lang="en-US" sz="3600" dirty="0"/>
          </a:p>
        </p:txBody>
      </p:sp>
      <p:sp>
        <p:nvSpPr>
          <p:cNvPr id="10" name="Text 8"/>
          <p:cNvSpPr/>
          <p:nvPr/>
        </p:nvSpPr>
        <p:spPr>
          <a:xfrm>
            <a:off x="3291840" y="2103120"/>
            <a:ext cx="25603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Lowest MAE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(Gradient Boosting)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6126480" y="1188720"/>
            <a:ext cx="2560320" cy="18288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2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6126480" y="1371600"/>
            <a:ext cx="25603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065A8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87.8%</a:t>
            </a:r>
            <a:endParaRPr lang="en-US" sz="3600" dirty="0"/>
          </a:p>
        </p:txBody>
      </p:sp>
      <p:sp>
        <p:nvSpPr>
          <p:cNvPr id="13" name="Text 11"/>
          <p:cNvSpPr/>
          <p:nvPr/>
        </p:nvSpPr>
        <p:spPr>
          <a:xfrm>
            <a:off x="6126480" y="2103120"/>
            <a:ext cx="25603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Variance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Explained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457200" y="3291840"/>
            <a:ext cx="8229600" cy="14630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2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457200" y="3291840"/>
            <a:ext cx="73152" cy="1463040"/>
          </a:xfrm>
          <a:prstGeom prst="rect">
            <a:avLst/>
          </a:prstGeom>
          <a:solidFill>
            <a:srgbClr val="00A896"/>
          </a:solidFill>
          <a:ln/>
        </p:spPr>
      </p:sp>
      <p:sp>
        <p:nvSpPr>
          <p:cNvPr id="16" name="Text 14"/>
          <p:cNvSpPr/>
          <p:nvPr/>
        </p:nvSpPr>
        <p:spPr>
          <a:xfrm>
            <a:off x="822960" y="3383280"/>
            <a:ext cx="7589520" cy="12801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Ensemble methods (Random Forest, Gradient Boosting) significantly outperform single models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Smoking status is the strongest predictor of insurance charges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SVR underperforms due to the complex non-linear nature of the data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Decision Tree overfits, resulting in high RMSE despite decent MAE</a:t>
            </a:r>
            <a:endParaRPr lang="en-US" sz="13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0F4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137160"/>
            <a:ext cx="80467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Future Scope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0" y="4892040"/>
            <a:ext cx="9144000" cy="251460"/>
          </a:xfrm>
          <a:prstGeom prst="rect">
            <a:avLst/>
          </a:prstGeom>
          <a:solidFill>
            <a:srgbClr val="00A896"/>
          </a:solidFill>
          <a:ln/>
        </p:spPr>
      </p:sp>
      <p:sp>
        <p:nvSpPr>
          <p:cNvPr id="5" name="Shape 3"/>
          <p:cNvSpPr/>
          <p:nvPr/>
        </p:nvSpPr>
        <p:spPr>
          <a:xfrm>
            <a:off x="457200" y="1097280"/>
            <a:ext cx="2560320" cy="16459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2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457200" y="1097280"/>
            <a:ext cx="2560320" cy="54864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7" name="Text 5"/>
          <p:cNvSpPr/>
          <p:nvPr/>
        </p:nvSpPr>
        <p:spPr>
          <a:xfrm>
            <a:off x="640080" y="1280160"/>
            <a:ext cx="21945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7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Deep Learning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640080" y="1737360"/>
            <a:ext cx="219456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Implement neural networks (ANN, DNN) for potentially higher accuracy on larger datasets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3291840" y="1097280"/>
            <a:ext cx="2560320" cy="16459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2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3291840" y="1097280"/>
            <a:ext cx="2560320" cy="54864"/>
          </a:xfrm>
          <a:prstGeom prst="rect">
            <a:avLst/>
          </a:prstGeom>
          <a:solidFill>
            <a:srgbClr val="065A82"/>
          </a:solidFill>
          <a:ln/>
        </p:spPr>
      </p:sp>
      <p:sp>
        <p:nvSpPr>
          <p:cNvPr id="11" name="Text 9"/>
          <p:cNvSpPr/>
          <p:nvPr/>
        </p:nvSpPr>
        <p:spPr>
          <a:xfrm>
            <a:off x="3474720" y="1280160"/>
            <a:ext cx="21945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7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Feature Engineering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3474720" y="1737360"/>
            <a:ext cx="219456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 features like medical history, lifestyle habits, and pre-existing conditions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6126480" y="1097280"/>
            <a:ext cx="2560320" cy="16459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2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6126480" y="1097280"/>
            <a:ext cx="2560320" cy="54864"/>
          </a:xfrm>
          <a:prstGeom prst="rect">
            <a:avLst/>
          </a:prstGeom>
          <a:solidFill>
            <a:srgbClr val="1C7293"/>
          </a:solidFill>
          <a:ln/>
        </p:spPr>
      </p:sp>
      <p:sp>
        <p:nvSpPr>
          <p:cNvPr id="15" name="Text 13"/>
          <p:cNvSpPr/>
          <p:nvPr/>
        </p:nvSpPr>
        <p:spPr>
          <a:xfrm>
            <a:off x="6309360" y="1280160"/>
            <a:ext cx="21945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7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Hyperparameter Tuning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6309360" y="1737360"/>
            <a:ext cx="219456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GridSearchCV / RandomizedSearchCV for optimal model configurations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457200" y="3017520"/>
            <a:ext cx="2560320" cy="16459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2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457200" y="3017520"/>
            <a:ext cx="2560320" cy="54864"/>
          </a:xfrm>
          <a:prstGeom prst="rect">
            <a:avLst/>
          </a:prstGeom>
          <a:solidFill>
            <a:srgbClr val="00A896"/>
          </a:solidFill>
          <a:ln/>
        </p:spPr>
      </p:sp>
      <p:sp>
        <p:nvSpPr>
          <p:cNvPr id="19" name="Text 17"/>
          <p:cNvSpPr/>
          <p:nvPr/>
        </p:nvSpPr>
        <p:spPr>
          <a:xfrm>
            <a:off x="640080" y="3200400"/>
            <a:ext cx="21945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7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Web Deployment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640080" y="3657600"/>
            <a:ext cx="219456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Deploy the best model as a Flask/Django web app for real-time predictions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3291840" y="3017520"/>
            <a:ext cx="2560320" cy="16459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2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3291840" y="3017520"/>
            <a:ext cx="2560320" cy="54864"/>
          </a:xfrm>
          <a:prstGeom prst="rect">
            <a:avLst/>
          </a:prstGeom>
          <a:solidFill>
            <a:srgbClr val="02C39A"/>
          </a:solidFill>
          <a:ln/>
        </p:spPr>
      </p:sp>
      <p:sp>
        <p:nvSpPr>
          <p:cNvPr id="23" name="Text 21"/>
          <p:cNvSpPr/>
          <p:nvPr/>
        </p:nvSpPr>
        <p:spPr>
          <a:xfrm>
            <a:off x="3474720" y="3200400"/>
            <a:ext cx="21945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7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Larger Datasets</a:t>
            </a:r>
            <a:endParaRPr lang="en-US" sz="1400" dirty="0"/>
          </a:p>
        </p:txBody>
      </p:sp>
      <p:sp>
        <p:nvSpPr>
          <p:cNvPr id="24" name="Text 22"/>
          <p:cNvSpPr/>
          <p:nvPr/>
        </p:nvSpPr>
        <p:spPr>
          <a:xfrm>
            <a:off x="3474720" y="3657600"/>
            <a:ext cx="219456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 on datasets with 100K+ records for improved generalization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6126480" y="3017520"/>
            <a:ext cx="2560320" cy="16459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2000"/>
              </a:srgbClr>
            </a:outerShdw>
          </a:effectLst>
        </p:spPr>
      </p:sp>
      <p:sp>
        <p:nvSpPr>
          <p:cNvPr id="26" name="Shape 24"/>
          <p:cNvSpPr/>
          <p:nvPr/>
        </p:nvSpPr>
        <p:spPr>
          <a:xfrm>
            <a:off x="6126480" y="3017520"/>
            <a:ext cx="2560320" cy="54864"/>
          </a:xfrm>
          <a:prstGeom prst="rect">
            <a:avLst/>
          </a:prstGeom>
          <a:solidFill>
            <a:srgbClr val="F96167"/>
          </a:solidFill>
          <a:ln/>
        </p:spPr>
      </p:sp>
      <p:sp>
        <p:nvSpPr>
          <p:cNvPr id="27" name="Text 25"/>
          <p:cNvSpPr/>
          <p:nvPr/>
        </p:nvSpPr>
        <p:spPr>
          <a:xfrm>
            <a:off x="6309360" y="3200400"/>
            <a:ext cx="21945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7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Explainability</a:t>
            </a:r>
            <a:endParaRPr lang="en-US" sz="1400" dirty="0"/>
          </a:p>
        </p:txBody>
      </p:sp>
      <p:sp>
        <p:nvSpPr>
          <p:cNvPr id="28" name="Text 26"/>
          <p:cNvSpPr/>
          <p:nvPr/>
        </p:nvSpPr>
        <p:spPr>
          <a:xfrm>
            <a:off x="6309360" y="3657600"/>
            <a:ext cx="219456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SHAP/LIME for model interpretability and feature importance analysis</a:t>
            </a:r>
            <a:endParaRPr lang="en-US" sz="11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0F162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4892040"/>
            <a:ext cx="9144000" cy="251460"/>
          </a:xfrm>
          <a:prstGeom prst="rect">
            <a:avLst/>
          </a:prstGeom>
          <a:solidFill>
            <a:srgbClr val="00A896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4" name="Shape 2"/>
          <p:cNvSpPr/>
          <p:nvPr/>
        </p:nvSpPr>
        <p:spPr>
          <a:xfrm>
            <a:off x="0" y="4663440"/>
            <a:ext cx="9144000" cy="480060"/>
          </a:xfrm>
          <a:prstGeom prst="rect">
            <a:avLst/>
          </a:prstGeom>
          <a:solidFill>
            <a:srgbClr val="00A896"/>
          </a:solidFill>
          <a:ln/>
        </p:spPr>
      </p:sp>
      <p:sp>
        <p:nvSpPr>
          <p:cNvPr id="5" name="Text 3"/>
          <p:cNvSpPr/>
          <p:nvPr/>
        </p:nvSpPr>
        <p:spPr>
          <a:xfrm>
            <a:off x="914400" y="1371600"/>
            <a:ext cx="731520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Thank You</a:t>
            </a:r>
            <a:endParaRPr lang="en-US" sz="4800" dirty="0"/>
          </a:p>
        </p:txBody>
      </p:sp>
      <p:sp>
        <p:nvSpPr>
          <p:cNvPr id="6" name="Shape 4"/>
          <p:cNvSpPr/>
          <p:nvPr/>
        </p:nvSpPr>
        <p:spPr>
          <a:xfrm>
            <a:off x="3657600" y="2834640"/>
            <a:ext cx="1828800" cy="36576"/>
          </a:xfrm>
          <a:prstGeom prst="rect">
            <a:avLst/>
          </a:prstGeom>
          <a:solidFill>
            <a:srgbClr val="00A896"/>
          </a:solidFill>
          <a:ln/>
        </p:spPr>
      </p:sp>
      <p:sp>
        <p:nvSpPr>
          <p:cNvPr id="7" name="Text 5"/>
          <p:cNvSpPr/>
          <p:nvPr/>
        </p:nvSpPr>
        <p:spPr>
          <a:xfrm>
            <a:off x="914400" y="3108960"/>
            <a:ext cx="7315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Questions &amp; Discussion</a:t>
            </a:r>
            <a:endParaRPr lang="en-US" sz="2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Medical Insurance Cost Prediction Using ML</dc:title>
  <dc:subject>PptxGenJS Presentation</dc:subject>
  <dc:creator>ML Project</dc:creator>
  <cp:lastModifiedBy>ML Project</cp:lastModifiedBy>
  <cp:revision>1</cp:revision>
  <dcterms:created xsi:type="dcterms:W3CDTF">2026-04-07T08:42:46Z</dcterms:created>
  <dcterms:modified xsi:type="dcterms:W3CDTF">2026-04-07T08:42:46Z</dcterms:modified>
</cp:coreProperties>
</file>